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540"/>
    <p:restoredTop sz="94675"/>
  </p:normalViewPr>
  <p:slideViewPr>
    <p:cSldViewPr snapToGrid="0" snapToObjects="1">
      <p:cViewPr varScale="1">
        <p:scale>
          <a:sx n="156" d="100"/>
          <a:sy n="156" d="100"/>
        </p:scale>
        <p:origin x="176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164592"/>
            <a:ext cx="82296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660" b="1" i="0">
                <a:solidFill>
                  <a:srgbClr val="1F3864"/>
                </a:solidFill>
                <a:latin typeface="Calibri"/>
              </a:rPr>
              <a:t>RSS Governance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731520"/>
            <a:ext cx="8293608" cy="640080"/>
          </a:xfrm>
          <a:prstGeom prst="rect">
            <a:avLst/>
          </a:prstGeom>
          <a:solidFill>
            <a:srgbClr val="F2F2F8"/>
          </a:solidFill>
          <a:ln w="20320">
            <a:solidFill>
              <a:srgbClr val="9A9A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93776" y="841248"/>
            <a:ext cx="3523400" cy="1661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1" i="1" dirty="0">
                <a:solidFill>
                  <a:srgbClr val="5A5A66"/>
                </a:solidFill>
                <a:latin typeface="Calibri"/>
              </a:rPr>
              <a:t>Operating Legal Entity — non-profit 501(c)(3) fiscal sponsor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1088136"/>
            <a:ext cx="80467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40" b="0" i="0">
                <a:solidFill>
                  <a:srgbClr val="8C8C99"/>
                </a:solidFill>
                <a:latin typeface="Calibri"/>
              </a:rPr>
              <a:t>legal entity of record · financial administration · contracts · holds funds and intellectual property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0" y="1389888"/>
            <a:ext cx="0" cy="265176"/>
          </a:xfrm>
          <a:prstGeom prst="line">
            <a:avLst/>
          </a:prstGeom>
          <a:ln w="22860">
            <a:solidFill>
              <a:srgbClr val="8C8C9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55664" y="1463040"/>
            <a:ext cx="128016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0" b="0" i="1" dirty="0">
                <a:solidFill>
                  <a:srgbClr val="8C8C99"/>
                </a:solidFill>
                <a:latin typeface="Calibri"/>
              </a:rPr>
              <a:t>delegates authority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2304288"/>
            <a:ext cx="2743200" cy="1060704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3048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2468880"/>
            <a:ext cx="25603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10" b="1" i="0">
                <a:solidFill>
                  <a:srgbClr val="0F6E56"/>
                </a:solidFill>
                <a:latin typeface="Calibri"/>
              </a:rPr>
              <a:t>Developers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788920"/>
            <a:ext cx="25603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0F6E56"/>
                </a:solidFill>
                <a:latin typeface="Calibri"/>
              </a:rPr>
              <a:t>individuals · scientists &amp;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462" y="2980944"/>
            <a:ext cx="150522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dirty="0">
                <a:solidFill>
                  <a:srgbClr val="0F6E56"/>
                </a:solidFill>
                <a:latin typeface="Calibri"/>
              </a:rPr>
              <a:t>self-governing ·</a:t>
            </a:r>
            <a:r>
              <a:rPr lang="en-US" sz="900" dirty="0">
                <a:solidFill>
                  <a:srgbClr val="0F6E56"/>
                </a:solidFill>
              </a:rPr>
              <a:t> pass resolutions</a:t>
            </a:r>
          </a:p>
          <a:p>
            <a:pPr algn="ctr"/>
            <a:endParaRPr sz="900" b="0" i="0" dirty="0">
              <a:solidFill>
                <a:srgbClr val="0F6E56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70832" y="1691640"/>
            <a:ext cx="4270248" cy="2240280"/>
          </a:xfrm>
          <a:prstGeom prst="roundRect">
            <a:avLst>
              <a:gd name="adj" fmla="val 9000"/>
            </a:avLst>
          </a:prstGeom>
          <a:solidFill>
            <a:srgbClr val="EEEDFE"/>
          </a:solidFill>
          <a:ln w="30480">
            <a:solidFill>
              <a:srgbClr val="534A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783080"/>
            <a:ext cx="4087368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10" b="1" i="0">
                <a:solidFill>
                  <a:srgbClr val="534AB7"/>
                </a:solidFill>
                <a:latin typeface="Calibri"/>
              </a:rPr>
              <a:t>Steering Committee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048256"/>
            <a:ext cx="408736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534AB7"/>
                </a:solidFill>
                <a:latin typeface="Calibri"/>
              </a:rPr>
              <a:t>strategic direction · budget · fundraising · oversight · policies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44568" y="2249424"/>
            <a:ext cx="3922776" cy="493776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2286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83189" y="2322576"/>
            <a:ext cx="1245534" cy="172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120" b="1" dirty="0">
                <a:solidFill>
                  <a:srgbClr val="0F6E56"/>
                </a:solidFill>
                <a:latin typeface="Calibri"/>
              </a:rPr>
              <a:t>4</a:t>
            </a:r>
            <a:r>
              <a:rPr sz="1120" b="1" i="0" dirty="0">
                <a:solidFill>
                  <a:srgbClr val="0F6E56"/>
                </a:solidFill>
                <a:latin typeface="Calibri"/>
              </a:rPr>
              <a:t> elected Developers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0033" y="2532888"/>
            <a:ext cx="2051845" cy="1277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830" dirty="0">
                <a:solidFill>
                  <a:srgbClr val="0F6E56"/>
                </a:solidFill>
                <a:latin typeface="Calibri"/>
              </a:rPr>
              <a:t>two</a:t>
            </a:r>
            <a:r>
              <a:rPr sz="830" b="0" i="0" dirty="0">
                <a:solidFill>
                  <a:srgbClr val="0F6E56"/>
                </a:solidFill>
                <a:latin typeface="Calibri"/>
              </a:rPr>
              <a:t>-year terms · elected at the Annual Meeting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6320" y="2761488"/>
            <a:ext cx="0" cy="164592"/>
          </a:xfrm>
          <a:prstGeom prst="line">
            <a:avLst/>
          </a:prstGeom>
          <a:ln w="20320">
            <a:solidFill>
              <a:srgbClr val="534AB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01184" y="2788920"/>
            <a:ext cx="109728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60" b="0" i="1">
                <a:solidFill>
                  <a:srgbClr val="8C8C99"/>
                </a:solidFill>
                <a:latin typeface="Calibri"/>
              </a:rPr>
              <a:t>nominates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2953512"/>
            <a:ext cx="3922776" cy="493776"/>
          </a:xfrm>
          <a:prstGeom prst="roundRect">
            <a:avLst>
              <a:gd name="adj" fmla="val 9000"/>
            </a:avLst>
          </a:prstGeom>
          <a:solidFill>
            <a:srgbClr val="FAECE7"/>
          </a:solidFill>
          <a:ln w="22860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8905" y="3026664"/>
            <a:ext cx="694101" cy="1723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120" b="1" i="0" dirty="0">
                <a:solidFill>
                  <a:srgbClr val="993C1D"/>
                </a:solidFill>
                <a:latin typeface="Calibri"/>
              </a:rPr>
              <a:t>+ 1 </a:t>
            </a:r>
            <a:r>
              <a:rPr sz="1120" b="1" i="0" dirty="0">
                <a:solidFill>
                  <a:srgbClr val="993C1D"/>
                </a:solidFill>
                <a:latin typeface="Calibri"/>
              </a:rPr>
              <a:t>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236976"/>
            <a:ext cx="3776472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30" b="0" i="0">
                <a:solidFill>
                  <a:srgbClr val="993C1D"/>
                </a:solidFill>
                <a:latin typeface="Calibri"/>
              </a:rPr>
              <a:t>presiding officer · voting member · day-to-day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25293" y="3584448"/>
            <a:ext cx="1561326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900" dirty="0">
                <a:solidFill>
                  <a:srgbClr val="534AB7"/>
                </a:solidFill>
                <a:latin typeface="Calibri"/>
              </a:rPr>
              <a:t>5</a:t>
            </a:r>
            <a:r>
              <a:rPr sz="900" b="0" i="0" dirty="0">
                <a:solidFill>
                  <a:srgbClr val="534AB7"/>
                </a:solidFill>
                <a:latin typeface="Calibri"/>
              </a:rPr>
              <a:t> voting members · majority vote</a:t>
            </a:r>
          </a:p>
        </p:txBody>
      </p:sp>
      <p:cxnSp>
        <p:nvCxnSpPr>
          <p:cNvPr id="25" name="Connector 24"/>
          <p:cNvCxnSpPr>
            <a:cxnSpLocks/>
          </p:cNvCxnSpPr>
          <p:nvPr/>
        </p:nvCxnSpPr>
        <p:spPr>
          <a:xfrm>
            <a:off x="3127248" y="2487168"/>
            <a:ext cx="1243584" cy="0"/>
          </a:xfrm>
          <a:prstGeom prst="line">
            <a:avLst/>
          </a:prstGeom>
          <a:ln w="2794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85025" y="2304288"/>
            <a:ext cx="254878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1" dirty="0">
                <a:solidFill>
                  <a:srgbClr val="0F6E56"/>
                </a:solidFill>
                <a:latin typeface="Calibri"/>
              </a:rPr>
              <a:t>elect </a:t>
            </a:r>
          </a:p>
        </p:txBody>
      </p:sp>
      <p:cxnSp>
        <p:nvCxnSpPr>
          <p:cNvPr id="27" name="Connector 26"/>
          <p:cNvCxnSpPr>
            <a:cxnSpLocks/>
            <a:endCxn id="21" idx="1"/>
          </p:cNvCxnSpPr>
          <p:nvPr/>
        </p:nvCxnSpPr>
        <p:spPr>
          <a:xfrm>
            <a:off x="3127248" y="3200400"/>
            <a:ext cx="1417320" cy="0"/>
          </a:xfrm>
          <a:prstGeom prst="line">
            <a:avLst/>
          </a:prstGeom>
          <a:ln w="2794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63824" y="3017520"/>
            <a:ext cx="109728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1">
                <a:solidFill>
                  <a:srgbClr val="0F6E56"/>
                </a:solidFill>
                <a:latin typeface="Calibri"/>
              </a:rPr>
              <a:t>ratify (2/3)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E125262-2FCD-794B-F384-3E59EA49BA8E}"/>
              </a:ext>
            </a:extLst>
          </p:cNvPr>
          <p:cNvGrpSpPr/>
          <p:nvPr/>
        </p:nvGrpSpPr>
        <p:grpSpPr>
          <a:xfrm>
            <a:off x="2234938" y="4066297"/>
            <a:ext cx="6144035" cy="968269"/>
            <a:chOff x="2163377" y="4066297"/>
            <a:chExt cx="6144035" cy="968269"/>
          </a:xfrm>
        </p:grpSpPr>
        <p:sp>
          <p:nvSpPr>
            <p:cNvPr id="29" name="TextBox 28"/>
            <p:cNvSpPr txBox="1"/>
            <p:nvPr/>
          </p:nvSpPr>
          <p:spPr>
            <a:xfrm>
              <a:off x="2163377" y="4325112"/>
              <a:ext cx="2816352" cy="18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20" b="0" i="0" dirty="0">
                  <a:solidFill>
                    <a:srgbClr val="1A1A1A"/>
                  </a:solidFill>
                  <a:latin typeface="Calibri"/>
                </a:rPr>
                <a:t>The </a:t>
              </a:r>
              <a:r>
                <a:rPr sz="1220" b="1" i="0" dirty="0">
                  <a:solidFill>
                    <a:srgbClr val="534AB7"/>
                  </a:solidFill>
                  <a:latin typeface="Calibri"/>
                </a:rPr>
                <a:t>Steering Committee</a:t>
              </a:r>
              <a:r>
                <a:rPr sz="1220" b="0" i="0" dirty="0">
                  <a:solidFill>
                    <a:srgbClr val="1A1A1A"/>
                  </a:solidFill>
                  <a:latin typeface="Calibri"/>
                </a:rPr>
                <a:t> and the </a:t>
              </a:r>
              <a:r>
                <a:rPr sz="1220" b="1" i="0" dirty="0">
                  <a:solidFill>
                    <a:srgbClr val="993C1D"/>
                  </a:solidFill>
                  <a:latin typeface="Calibri"/>
                </a:rPr>
                <a:t>Director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63377" y="4553712"/>
              <a:ext cx="2816352" cy="1877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220" b="0" i="0">
                  <a:solidFill>
                    <a:srgbClr val="1A1A1A"/>
                  </a:solidFill>
                  <a:latin typeface="Calibri"/>
                </a:rPr>
                <a:t>work together to advance the mission by</a:t>
              </a:r>
            </a:p>
          </p:txBody>
        </p:sp>
        <p:sp>
          <p:nvSpPr>
            <p:cNvPr id="31" name="Left Brace 30"/>
            <p:cNvSpPr/>
            <p:nvPr/>
          </p:nvSpPr>
          <p:spPr>
            <a:xfrm>
              <a:off x="4871704" y="4078767"/>
              <a:ext cx="108025" cy="949982"/>
            </a:xfrm>
            <a:prstGeom prst="leftBrace">
              <a:avLst>
                <a:gd name="adj1" fmla="val 9000"/>
                <a:gd name="adj2" fmla="val 50000"/>
              </a:avLst>
            </a:prstGeom>
            <a:noFill/>
            <a:ln w="2286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Right Brace 31"/>
            <p:cNvSpPr/>
            <p:nvPr/>
          </p:nvSpPr>
          <p:spPr>
            <a:xfrm>
              <a:off x="8199387" y="4084584"/>
              <a:ext cx="108025" cy="949982"/>
            </a:xfrm>
            <a:prstGeom prst="rightBrace">
              <a:avLst>
                <a:gd name="adj1" fmla="val 9000"/>
                <a:gd name="adj2" fmla="val 50000"/>
              </a:avLst>
            </a:prstGeom>
            <a:noFill/>
            <a:ln w="2286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090428" y="4066297"/>
              <a:ext cx="303580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1A1A1A"/>
                  </a:solidFill>
                  <a:latin typeface="Calibri"/>
                </a:rPr>
                <a:t>•  hiring staff engineers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90428" y="4267465"/>
              <a:ext cx="303580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dirty="0">
                  <a:solidFill>
                    <a:srgbClr val="1A1A1A"/>
                  </a:solidFill>
                  <a:latin typeface="Calibri"/>
                </a:rPr>
                <a:t>•  funding fellowships (grad students/postdocs)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90428" y="4468633"/>
              <a:ext cx="303580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 dirty="0">
                  <a:solidFill>
                    <a:srgbClr val="1A1A1A"/>
                  </a:solidFill>
                  <a:latin typeface="Calibri"/>
                </a:rPr>
                <a:t>•  providing resources to developers (compute, software</a:t>
              </a:r>
              <a:r>
                <a:rPr sz="900" b="0" i="0">
                  <a:solidFill>
                    <a:srgbClr val="1A1A1A"/>
                  </a:solidFill>
                  <a:latin typeface="Calibri"/>
                </a:rPr>
                <a:t>, </a:t>
              </a:r>
              <a:r>
                <a:rPr sz="900" b="0" i="1">
                  <a:solidFill>
                    <a:srgbClr val="1A1A1A"/>
                  </a:solidFill>
                  <a:latin typeface="Calibri"/>
                </a:rPr>
                <a:t>etc</a:t>
              </a:r>
              <a:r>
                <a:rPr lang="en-US" sz="900" b="0" i="1">
                  <a:solidFill>
                    <a:srgbClr val="1A1A1A"/>
                  </a:solidFill>
                  <a:latin typeface="Calibri"/>
                </a:rPr>
                <a:t>.</a:t>
              </a:r>
              <a:r>
                <a:rPr sz="900" b="0" i="0">
                  <a:solidFill>
                    <a:srgbClr val="1A1A1A"/>
                  </a:solidFill>
                  <a:latin typeface="Calibri"/>
                </a:rPr>
                <a:t>)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90428" y="4669801"/>
              <a:ext cx="303580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1A1A1A"/>
                  </a:solidFill>
                  <a:latin typeface="Calibri"/>
                </a:rPr>
                <a:t>•  running workshops/events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90428" y="4870969"/>
              <a:ext cx="3035806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0" i="0">
                  <a:solidFill>
                    <a:srgbClr val="1A1A1A"/>
                  </a:solidFill>
                  <a:latin typeface="Calibri"/>
                </a:rPr>
                <a:t>•  maintaining community resources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7013D85-779B-7545-9BCE-4629E1B961C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19f5190d-171f-415e-a305-3e79c888dfa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</Words>
  <Application>Microsoft Macintosh PowerPoint</Application>
  <PresentationFormat>On-screen Show (16:9)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TJ Lane</cp:lastModifiedBy>
  <cp:revision>9</cp:revision>
  <dcterms:created xsi:type="dcterms:W3CDTF">2013-01-27T09:14:16Z</dcterms:created>
  <dcterms:modified xsi:type="dcterms:W3CDTF">2026-09-17T21:29:00Z</dcterms:modified>
  <cp:category/>
</cp:coreProperties>
</file>