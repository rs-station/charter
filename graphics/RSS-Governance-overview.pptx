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3C1D"/>
    <a:srgbClr val="5249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6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6035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Governance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6688777" cy="612648"/>
          </a:xfrm>
          <a:prstGeom prst="rect">
            <a:avLst/>
          </a:prstGeom>
          <a:solidFill>
            <a:srgbClr val="EEF0F8">
              <a:alpha val="60000"/>
            </a:srgbClr>
          </a:solidFill>
          <a:ln w="19050">
            <a:solidFill>
              <a:srgbClr val="B4B2A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795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Legal Entity, e.g. a non-profit 501(c)(3)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1060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entity of record · financial administration · contracts</a:t>
            </a:r>
            <a:endParaRPr lang="en-US" sz="95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5308663-2945-2084-3021-D83E875E26DC}"/>
              </a:ext>
            </a:extLst>
          </p:cNvPr>
          <p:cNvGrpSpPr/>
          <p:nvPr/>
        </p:nvGrpSpPr>
        <p:grpSpPr>
          <a:xfrm>
            <a:off x="1416177" y="2761646"/>
            <a:ext cx="3108960" cy="763718"/>
            <a:chOff x="3004625" y="2821021"/>
            <a:chExt cx="3108960" cy="763718"/>
          </a:xfrm>
        </p:grpSpPr>
        <p:sp>
          <p:nvSpPr>
            <p:cNvPr id="6" name="Shape 4"/>
            <p:cNvSpPr/>
            <p:nvPr/>
          </p:nvSpPr>
          <p:spPr>
            <a:xfrm>
              <a:off x="3233225" y="2821021"/>
              <a:ext cx="2761176" cy="763718"/>
            </a:xfrm>
            <a:prstGeom prst="roundRect">
              <a:avLst>
                <a:gd name="adj" fmla="val 8421"/>
              </a:avLst>
            </a:prstGeom>
            <a:solidFill>
              <a:srgbClr val="EEEDFE"/>
            </a:solidFill>
            <a:ln w="19050">
              <a:solidFill>
                <a:srgbClr val="534AB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3004625" y="2934556"/>
              <a:ext cx="31089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534AB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Board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04625" y="3192468"/>
              <a:ext cx="31089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534AB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 seats  ·  strategic direction  ·  budget  ·  oversight</a:t>
              </a:r>
              <a:endParaRPr lang="en-US" sz="900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909F217-F597-2ED7-8974-6C6255D9666D}"/>
              </a:ext>
            </a:extLst>
          </p:cNvPr>
          <p:cNvGrpSpPr/>
          <p:nvPr/>
        </p:nvGrpSpPr>
        <p:grpSpPr>
          <a:xfrm>
            <a:off x="4750377" y="2741167"/>
            <a:ext cx="2395667" cy="795142"/>
            <a:chOff x="6324600" y="2800542"/>
            <a:chExt cx="2567941" cy="795142"/>
          </a:xfrm>
        </p:grpSpPr>
        <p:sp>
          <p:nvSpPr>
            <p:cNvPr id="9" name="Shape 7"/>
            <p:cNvSpPr/>
            <p:nvPr/>
          </p:nvSpPr>
          <p:spPr>
            <a:xfrm>
              <a:off x="6446522" y="2800542"/>
              <a:ext cx="2331718" cy="795142"/>
            </a:xfrm>
            <a:prstGeom prst="roundRect">
              <a:avLst>
                <a:gd name="adj" fmla="val 9412"/>
              </a:avLst>
            </a:prstGeom>
            <a:solidFill>
              <a:srgbClr val="FAECE7"/>
            </a:solidFill>
            <a:ln w="19050">
              <a:solidFill>
                <a:srgbClr val="993C1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6324600" y="2932372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993C1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Director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332221" y="3205170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993C1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appointed developer  ·  manages day-to-day</a:t>
              </a:r>
              <a:endParaRPr lang="en-US" sz="9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3C43622-3B47-373C-772A-956338CEF1E2}"/>
              </a:ext>
            </a:extLst>
          </p:cNvPr>
          <p:cNvGrpSpPr/>
          <p:nvPr/>
        </p:nvGrpSpPr>
        <p:grpSpPr>
          <a:xfrm>
            <a:off x="297942" y="1506342"/>
            <a:ext cx="2331720" cy="777240"/>
            <a:chOff x="457200" y="2852928"/>
            <a:chExt cx="2331720" cy="777240"/>
          </a:xfrm>
        </p:grpSpPr>
        <p:sp>
          <p:nvSpPr>
            <p:cNvPr id="12" name="Shape 10"/>
            <p:cNvSpPr/>
            <p:nvPr/>
          </p:nvSpPr>
          <p:spPr>
            <a:xfrm>
              <a:off x="457200" y="2852928"/>
              <a:ext cx="2331720" cy="777240"/>
            </a:xfrm>
            <a:prstGeom prst="roundRect">
              <a:avLst>
                <a:gd name="adj" fmla="val 9412"/>
              </a:avLst>
            </a:prstGeom>
            <a:solidFill>
              <a:srgbClr val="E1F5EE"/>
            </a:solidFill>
            <a:ln w="19050">
              <a:solidFill>
                <a:srgbClr val="0F6E5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457200" y="2927956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Members &amp; Partners</a:t>
              </a:r>
              <a:endParaRPr lang="en-US" sz="13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200" y="3221969"/>
              <a:ext cx="23317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institutions  ·  annual contribution</a:t>
              </a:r>
              <a:br>
                <a:rPr lang="en-US" sz="9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9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partners: </a:t>
              </a:r>
              <a:r>
                <a:rPr lang="en-US" sz="900" dirty="0" err="1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addt’l</a:t>
              </a:r>
              <a:r>
                <a:rPr lang="en-US" sz="9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resources, serve on Board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246350D-9FE1-C0F1-5941-86793D3247E8}"/>
              </a:ext>
            </a:extLst>
          </p:cNvPr>
          <p:cNvGrpSpPr/>
          <p:nvPr/>
        </p:nvGrpSpPr>
        <p:grpSpPr>
          <a:xfrm>
            <a:off x="3291781" y="1492820"/>
            <a:ext cx="2331720" cy="777240"/>
            <a:chOff x="3090672" y="1533907"/>
            <a:chExt cx="2331720" cy="777240"/>
          </a:xfrm>
        </p:grpSpPr>
        <p:sp>
          <p:nvSpPr>
            <p:cNvPr id="15" name="Shape 13"/>
            <p:cNvSpPr/>
            <p:nvPr/>
          </p:nvSpPr>
          <p:spPr>
            <a:xfrm>
              <a:off x="3090672" y="1533907"/>
              <a:ext cx="2331720" cy="777240"/>
            </a:xfrm>
            <a:prstGeom prst="roundRect">
              <a:avLst>
                <a:gd name="adj" fmla="val 9412"/>
              </a:avLst>
            </a:prstGeom>
            <a:solidFill>
              <a:srgbClr val="E1F5EE"/>
            </a:solidFill>
            <a:ln w="19050">
              <a:solidFill>
                <a:srgbClr val="0F6E5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3090672" y="1618736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Developers</a:t>
              </a:r>
              <a:endParaRPr lang="en-US" sz="14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90672" y="1911004"/>
              <a:ext cx="23317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dirty="0">
                  <a:solidFill>
                    <a:srgbClr val="0F6E5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individuals  ·  scientists &amp; engineers</a:t>
              </a:r>
            </a:p>
            <a:p>
              <a:pPr algn="ctr"/>
              <a:r>
                <a:rPr lang="en-US" sz="900" dirty="0">
                  <a:solidFill>
                    <a:srgbClr val="0F6E56"/>
                  </a:solidFill>
                  <a:latin typeface="Calibri" pitchFamily="34" charset="0"/>
                  <a:cs typeface="Calibri" pitchFamily="34" charset="-120"/>
                </a:rPr>
                <a:t>self-governing</a:t>
              </a:r>
              <a:endParaRPr lang="en-US" sz="9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4408303" y="3206753"/>
            <a:ext cx="429456" cy="0"/>
          </a:xfrm>
          <a:prstGeom prst="line">
            <a:avLst/>
          </a:prstGeom>
          <a:noFill/>
          <a:ln w="15240">
            <a:solidFill>
              <a:srgbClr val="534AB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35241" y="31939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735777" y="2286629"/>
            <a:ext cx="297180" cy="454537"/>
          </a:xfrm>
          <a:prstGeom prst="line">
            <a:avLst/>
          </a:prstGeom>
          <a:noFill/>
          <a:ln w="15240">
            <a:solidFill>
              <a:srgbClr val="0F6E5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20437" y="227234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 3 seats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20437" y="24744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(Partners only)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76338" y="2280159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 3 seats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 flipH="1">
            <a:off x="5226948" y="2280159"/>
            <a:ext cx="7812" cy="413765"/>
          </a:xfrm>
          <a:prstGeom prst="line">
            <a:avLst/>
          </a:prstGeom>
          <a:noFill/>
          <a:ln w="12700">
            <a:solidFill>
              <a:srgbClr val="B4B2A9"/>
            </a:solidFill>
            <a:prstDash val="dash"/>
            <a:tailEnd type="triangle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96003" y="238654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from</a:t>
            </a:r>
            <a:endParaRPr lang="en-US" sz="800" dirty="0"/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BC3F6A4B-7133-E740-C344-B51581BC6C8F}"/>
              </a:ext>
            </a:extLst>
          </p:cNvPr>
          <p:cNvSpPr/>
          <p:nvPr/>
        </p:nvSpPr>
        <p:spPr>
          <a:xfrm flipH="1">
            <a:off x="3745112" y="2261871"/>
            <a:ext cx="170610" cy="499677"/>
          </a:xfrm>
          <a:prstGeom prst="line">
            <a:avLst/>
          </a:prstGeom>
          <a:noFill/>
          <a:ln w="15240">
            <a:solidFill>
              <a:srgbClr val="0F6E5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9DB5064-CF69-75A1-14A6-091021DB19CF}"/>
              </a:ext>
            </a:extLst>
          </p:cNvPr>
          <p:cNvGrpSpPr/>
          <p:nvPr/>
        </p:nvGrpSpPr>
        <p:grpSpPr>
          <a:xfrm>
            <a:off x="3796983" y="3687144"/>
            <a:ext cx="3278326" cy="947188"/>
            <a:chOff x="2603465" y="3609202"/>
            <a:chExt cx="3278326" cy="947188"/>
          </a:xfrm>
        </p:grpSpPr>
        <p:sp>
          <p:nvSpPr>
            <p:cNvPr id="42" name="Text 6">
              <a:extLst>
                <a:ext uri="{FF2B5EF4-FFF2-40B4-BE49-F238E27FC236}">
                  <a16:creationId xmlns:a16="http://schemas.microsoft.com/office/drawing/2014/main" id="{10487181-E75C-A4A8-9882-C0B628663F42}"/>
                </a:ext>
              </a:extLst>
            </p:cNvPr>
            <p:cNvSpPr/>
            <p:nvPr/>
          </p:nvSpPr>
          <p:spPr>
            <a:xfrm>
              <a:off x="2772831" y="3628340"/>
              <a:ext cx="3108960" cy="8128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endParaRPr lang="en-US" sz="900" dirty="0"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hiring staff engineers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funding fellowships (grad students/postdocs)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/>
                <a:t>providing resources to developers (compute, software, </a:t>
              </a:r>
              <a:r>
                <a:rPr lang="en-US" sz="900" i="1" dirty="0" err="1"/>
                <a:t>etc</a:t>
              </a:r>
              <a:r>
                <a:rPr lang="en-US" sz="900" dirty="0"/>
                <a:t>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/>
                <a:t>running workshops/events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 dirty="0"/>
                <a:t>maintaining community resources</a:t>
              </a:r>
            </a:p>
          </p:txBody>
        </p: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5C303431-55E2-6028-C367-B67BE1CEBD76}"/>
                </a:ext>
              </a:extLst>
            </p:cNvPr>
            <p:cNvSpPr/>
            <p:nvPr/>
          </p:nvSpPr>
          <p:spPr>
            <a:xfrm>
              <a:off x="5767097" y="3609202"/>
              <a:ext cx="101348" cy="947188"/>
            </a:xfrm>
            <a:prstGeom prst="rightBrace">
              <a:avLst/>
            </a:prstGeom>
            <a:ln w="19050">
              <a:solidFill>
                <a:srgbClr val="993C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ight Brace 43">
              <a:extLst>
                <a:ext uri="{FF2B5EF4-FFF2-40B4-BE49-F238E27FC236}">
                  <a16:creationId xmlns:a16="http://schemas.microsoft.com/office/drawing/2014/main" id="{50D643AC-A289-90DC-9AE7-6395815B65CF}"/>
                </a:ext>
              </a:extLst>
            </p:cNvPr>
            <p:cNvSpPr/>
            <p:nvPr/>
          </p:nvSpPr>
          <p:spPr>
            <a:xfrm rot="10800000">
              <a:off x="2603465" y="3609202"/>
              <a:ext cx="101348" cy="947188"/>
            </a:xfrm>
            <a:prstGeom prst="rightBrace">
              <a:avLst/>
            </a:prstGeom>
            <a:ln w="19050">
              <a:solidFill>
                <a:srgbClr val="5249B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Text 5">
            <a:extLst>
              <a:ext uri="{FF2B5EF4-FFF2-40B4-BE49-F238E27FC236}">
                <a16:creationId xmlns:a16="http://schemas.microsoft.com/office/drawing/2014/main" id="{FC055481-E572-123B-A3EE-374EBFD18513}"/>
              </a:ext>
            </a:extLst>
          </p:cNvPr>
          <p:cNvSpPr/>
          <p:nvPr/>
        </p:nvSpPr>
        <p:spPr>
          <a:xfrm>
            <a:off x="527557" y="393102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98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400" dirty="0">
                <a:solidFill>
                  <a:srgbClr val="524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r>
              <a:rPr lang="en-US" sz="1400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work together to advance the Consortium’s mission by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123</Words>
  <Application>Microsoft Macintosh PowerPoint</Application>
  <PresentationFormat>On-screen Show (16:9)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RSS Governance Structure</dc:title>
  <dc:subject>PptxGenJS Presentation</dc:subject>
  <dc:creator>PptxGenJS</dc:creator>
  <cp:lastModifiedBy>TJ Lane</cp:lastModifiedBy>
  <cp:revision>11</cp:revision>
  <dcterms:created xsi:type="dcterms:W3CDTF">2026-03-30T19:30:22Z</dcterms:created>
  <dcterms:modified xsi:type="dcterms:W3CDTF">2026-04-08T19:56:37Z</dcterms:modified>
</cp:coreProperties>
</file>